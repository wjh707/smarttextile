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9144000" cy="7315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数智赋能政府治理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36576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D9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——数字化转型视域下的地方政府治理现代化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206240"/>
            <a:ext cx="9144000" cy="7315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8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报告人：教授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8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2026年5月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0" y="4572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学术讲座 · 内部资料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报告逻辑框架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3716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146304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时代召唤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2743200"/>
            <a:ext cx="640080" cy="18288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92608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数智赋能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011680" y="1188720"/>
            <a:ext cx="13716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23160" y="146304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5" name="Text 13"/>
          <p:cNvSpPr/>
          <p:nvPr/>
        </p:nvSpPr>
        <p:spPr>
          <a:xfrm>
            <a:off x="242316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103120" y="21945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理论根基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377440" y="2743200"/>
            <a:ext cx="640080" cy="18288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292608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理论基础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是什么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66160" y="1188720"/>
            <a:ext cx="13716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46304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1" name="Text 19"/>
          <p:cNvSpPr/>
          <p:nvPr/>
        </p:nvSpPr>
        <p:spPr>
          <a:xfrm>
            <a:off x="397764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657600" y="21945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实践探索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931920" y="2743200"/>
            <a:ext cx="640080" cy="18288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0" y="292608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国内做了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20640" y="1188720"/>
            <a:ext cx="13716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32120" y="146304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553212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12080" y="21945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国际镜鉴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0" y="2743200"/>
            <a:ext cx="640080" cy="18288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0" y="292608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国外有何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75120" y="1188720"/>
            <a:ext cx="13716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086600" y="146304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708660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766560" y="21945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路径建议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040880" y="2743200"/>
            <a:ext cx="640080" cy="18288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0" y="292608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我们能做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时代背景：数据成为第五大生产要素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关键判断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"数据已成为第五大生产要素"（2020年4月，中共中央、国务院）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2024年政府工作报告明确提出："深入推进数字经济创新发展"，"加快数字政府建设"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2025年进一步强调："以数字中国建设赋能中国式现代化"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03520" y="1097280"/>
            <a:ext cx="34747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0" y="1371600"/>
            <a:ext cx="54864" cy="5486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95ZB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76072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中国政务数据总量(2024)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0" y="1417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占全球数据量的23%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0" y="2194560"/>
            <a:ext cx="54864" cy="5486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4" name="Text 12"/>
          <p:cNvSpPr/>
          <p:nvPr/>
        </p:nvSpPr>
        <p:spPr>
          <a:xfrm>
            <a:off x="5760720" y="2148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760720" y="2514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在线服务覆盖率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省级事项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486400" y="3017520"/>
            <a:ext cx="54864" cy="5486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8" name="Text 16"/>
          <p:cNvSpPr/>
          <p:nvPr/>
        </p:nvSpPr>
        <p:spPr>
          <a:xfrm>
            <a:off x="576072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逾5000亿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760720" y="3337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数字政府市场规模(2025E)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0" y="3063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年均增速超15%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86400" y="3840480"/>
            <a:ext cx="54864" cy="5486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0" y="3794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6072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国家层面政策文件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7240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2020年以来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政策脉络：从电子政务到数字中国的演进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8229600" cy="18288"/>
          </a:xfrm>
          <a:prstGeom prst="rect">
            <a:avLst/>
          </a:prstGeom>
          <a:solidFill>
            <a:srgbClr val="2C5F8A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331720"/>
            <a:ext cx="457200" cy="457200"/>
          </a:xfrm>
          <a:prstGeom prst="ellipse">
            <a:avLst/>
          </a:prstGeom>
          <a:solidFill>
            <a:srgbClr val="D6E8F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5F8A"/>
                </a:solidFill>
              </a:rPr>
              <a:t>●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7315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国家信息化领导小组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《电子政务建设指导意见》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148840" y="2331720"/>
            <a:ext cx="457200" cy="457200"/>
          </a:xfrm>
          <a:prstGeom prst="ellipse">
            <a:avLst/>
          </a:prstGeom>
          <a:solidFill>
            <a:srgbClr val="D6E8F7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5F8A"/>
                </a:solidFill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7452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83080" y="7315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国务院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《促进大数据发展行动纲要》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566160" y="2331720"/>
            <a:ext cx="457200" cy="457200"/>
          </a:xfrm>
          <a:prstGeom prst="ellipse">
            <a:avLst/>
          </a:prstGeom>
          <a:solidFill>
            <a:srgbClr val="D6E8F7"/>
          </a:solidFill>
          <a:ln/>
        </p:spPr>
      </p:sp>
      <p:sp>
        <p:nvSpPr>
          <p:cNvPr id="17" name="Text 15"/>
          <p:cNvSpPr/>
          <p:nvPr/>
        </p:nvSpPr>
        <p:spPr>
          <a:xfrm>
            <a:off x="35661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5F8A"/>
                </a:solidFill>
              </a:rPr>
              <a:t>●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0" y="7315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数据成为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第五大生产要素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983480" y="2331720"/>
            <a:ext cx="457200" cy="457200"/>
          </a:xfrm>
          <a:prstGeom prst="ellipse">
            <a:avLst/>
          </a:prstGeom>
          <a:solidFill>
            <a:srgbClr val="D6E8F7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5F8A"/>
                </a:solidFill>
              </a:rPr>
              <a:t>●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0916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17720" y="7315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国务院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《数字政府建设指导意见》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0" y="2331720"/>
            <a:ext cx="457200" cy="45720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●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5040" y="7315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中共中央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《数字中国整体布局规划》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818120" y="2331720"/>
            <a:ext cx="457200" cy="45720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781812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●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543800" y="2926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2024-25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452360" y="7315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政府工作报告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数字政府建设加速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理论基础：政府数字化的理论演进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2697480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88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数字治理理论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(Digital Governance)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Dunleavy, 2006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2331720" cy="9144"/>
          </a:xfrm>
          <a:prstGeom prst="rect">
            <a:avLst/>
          </a:prstGeom>
          <a:solidFill>
            <a:srgbClr val="F0D98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2860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核心理念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560320"/>
            <a:ext cx="2331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从"新公共管理"转向"数字时代治理"，强调服务整合与数字化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09728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1097280"/>
            <a:ext cx="2697480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1188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整体性政府理论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(Whole-of-Government)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Pollit, 2003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29000" y="2148840"/>
            <a:ext cx="2331720" cy="9144"/>
          </a:xfrm>
          <a:prstGeom prst="rect">
            <a:avLst/>
          </a:prstGeom>
          <a:solidFill>
            <a:srgbClr val="F0D98A"/>
          </a:solidFill>
          <a:ln/>
        </p:spPr>
      </p:sp>
      <p:sp>
        <p:nvSpPr>
          <p:cNvPr id="19" name="Text 17"/>
          <p:cNvSpPr/>
          <p:nvPr/>
        </p:nvSpPr>
        <p:spPr>
          <a:xfrm>
            <a:off x="3429000" y="22860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核心理念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29000" y="2560320"/>
            <a:ext cx="2331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打破部门壁垒，实现跨层级、跨部门协同治理，以用户为中心整合服务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26480" y="109728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0" y="1097280"/>
            <a:ext cx="2697480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11887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数据驱动治理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(Data-Driven Governance)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Giest &amp; Raaphorst, 2020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2148840"/>
            <a:ext cx="2331720" cy="9144"/>
          </a:xfrm>
          <a:prstGeom prst="rect">
            <a:avLst/>
          </a:prstGeom>
          <a:solidFill>
            <a:srgbClr val="F0D98A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22860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核心理念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309360" y="2560320"/>
            <a:ext cx="2331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运用大数据与AI技术辅助决策，实现从"经验驱动"向"数据驱动"转型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分析框架：政府数字化的"四阶段演进"模型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900" dirty="0"/>
          </a:p>
        </p:txBody>
      </p:sp>
      <p:pic>
        <p:nvPicPr>
          <p:cNvPr id="7" name="Image 0" descr="images/chart_evolution_pa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05840"/>
            <a:ext cx="85953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国内实践：从"盆景"走向"风景"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900" dirty="0"/>
          </a:p>
        </p:txBody>
      </p:sp>
      <p:pic>
        <p:nvPicPr>
          <p:cNvPr id="7" name="Image 0" descr="images/chart_domestic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案例一：杭州城市大脑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杭州城市大脑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2016年由杭州市政府与阿里巴巴联合启动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覆盖交通、文旅、卫健、城管等11个领域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治理理念：从"经验治理"到"数据治理"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36576" cy="1463040"/>
          </a:xfrm>
          <a:prstGeom prst="rect">
            <a:avLst/>
          </a:prstGeom>
          <a:solidFill>
            <a:srgbClr val="C99A2A"/>
          </a:solidFill>
          <a:ln/>
        </p:spPr>
      </p:sp>
      <p:pic>
        <p:nvPicPr>
          <p:cNvPr id="9" name="Image 0" descr="images/chart_hangzhou_city_br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914400"/>
            <a:ext cx="4297680" cy="2560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7200" y="37490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37947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A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启示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4023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城市大脑的核心价值不在于技术先进，而在于建立了"感知—分析—决策—执行"的治理闭环，让数据在城市治理中真正流动起来。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案例二：上海"一网通办"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206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上海 "一网通办"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1371600" cy="18288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373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2018年启动，以"一网通办"重塑政务服务流程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接入服务事项超过3,400项</a:t>
            </a:r>
            <a:endParaRPr lang="en-US" sz="10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个人用户注册量超过2,400万</a:t>
            </a:r>
            <a:endParaRPr lang="en-US" sz="10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日均办件量达10万件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44466"/>
                </a:solidFill>
              </a:rPr>
              <a:t>核心理念："进一扇门、跑一个窗、办所有事"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233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97280"/>
            <a:ext cx="402336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1430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关键成效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937760" y="1783080"/>
            <a:ext cx="54864" cy="3200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5" name="Text 13"/>
          <p:cNvSpPr/>
          <p:nvPr/>
        </p:nvSpPr>
        <p:spPr>
          <a:xfrm>
            <a:off x="5166360" y="17647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43600" y="176479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办事时间减少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2286000"/>
            <a:ext cx="54864" cy="3200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8" name="Text 16"/>
          <p:cNvSpPr/>
          <p:nvPr/>
        </p:nvSpPr>
        <p:spPr>
          <a:xfrm>
            <a:off x="5166360" y="22677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0" y="226771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材料缩减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2788920"/>
            <a:ext cx="54864" cy="3200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277063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277063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网上可办率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37760" y="3291840"/>
            <a:ext cx="54864" cy="3200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24" name="Text 22"/>
          <p:cNvSpPr/>
          <p:nvPr/>
        </p:nvSpPr>
        <p:spPr>
          <a:xfrm>
            <a:off x="5166360" y="32735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99.5%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43600" y="327355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满意率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4069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✧ 延伸案例：广东"数字政府"改革（粤省事、粤商通）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389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粤省事实名用户超1.8亿 | 企业开办从15天缩短至0.5天 | 政府运营效率提升60%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案例三：浙江"最多跑一次"与深圳"i深圳"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4114800" cy="4572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浙江·最多跑一次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6459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</a:rPr>
              <a:t>实现率 98.1%  |  满意率 99.5%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</a:rPr>
              <a:t>行政许可时限压缩比 87.4%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开创性提出"最多跑一次"改革理念，后被写入国务院文件向全国推广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深圳·i深圳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6459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</a:rPr>
              <a:t>上线服务超 8,200 项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</a:rPr>
              <a:t>100% 事项网上可办  |  95% "零跑动"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实名用户超1,800万，整合全市政务服务与公共服务</a:t>
            </a:r>
            <a:endParaRPr lang="en-US" sz="1200" dirty="0"/>
          </a:p>
        </p:txBody>
      </p:sp>
      <p:pic>
        <p:nvPicPr>
          <p:cNvPr id="15" name="Image 0" descr="images/chart_business_reg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108960"/>
            <a:ext cx="822960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案例四：北京"接诉即办"与成都"智慧蓉城"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1148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54864" cy="23774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北京 "接诉即办"数字化升级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12345热线全面数字化改造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</a:rPr>
              <a:t>诉求响应率：100%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</a:rPr>
              <a:t>问题解决率：95.6%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大数据分析主动治理，推动700余项高频问题协同解决</a:t>
            </a:r>
            <a:endParaRPr lang="en-US" sz="1000" dirty="0"/>
          </a:p>
          <a:p>
            <a:pPr indent="0" marL="0">
              <a:buNone/>
            </a:pPr>
            <a:r>
              <a:rPr lang="en-US" sz="1100" b="1" i="1" dirty="0">
                <a:solidFill>
                  <a:srgbClr val="C99A2A"/>
                </a:solidFill>
              </a:rPr>
              <a:t>从"民呼我应"到"未诉先办"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1148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97280"/>
            <a:ext cx="54864" cy="237744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成都 "智慧蓉城"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155448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"三级平台、五级应用"体系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</a:rPr>
              <a:t>监测覆盖 20大类 1,200项指标</a:t>
            </a:r>
            <a:endParaRPr lang="en-US" sz="1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</a:rPr>
              <a:t>事件处置时长：48h → 4.5h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跨层级协同处置，打通"市—区—街道—社区—网格"</a:t>
            </a:r>
            <a:endParaRPr lang="en-US" sz="1000" dirty="0"/>
          </a:p>
          <a:p>
            <a:pPr indent="0" marL="0">
              <a:buNone/>
            </a:pPr>
            <a:r>
              <a:rPr lang="en-US" sz="1100" b="1" i="1" dirty="0">
                <a:solidFill>
                  <a:srgbClr val="C99A2A"/>
                </a:solidFill>
              </a:rPr>
              <a:t>真正做到了"一屏观全城，一网管全城"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749040"/>
            <a:ext cx="8412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840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两个案例的共同启示：数字化不是技术问题，而是治理逻辑的再造——从"被动响应"转向"主动治理"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实践图谱：数智赋能的核心领域覆盖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0" descr="images/chart_domain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14400"/>
            <a:ext cx="4114800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0" y="1005840"/>
            <a:ext cx="54864" cy="411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6"/>
          <p:cNvSpPr/>
          <p:nvPr/>
        </p:nvSpPr>
        <p:spPr>
          <a:xfrm>
            <a:off x="4846320" y="10058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政务服务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0" y="10058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核心突破领域，用户规模最大，早期数字化主要集中在审批流程优化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0" y="1645920"/>
            <a:ext cx="54864" cy="411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2" name="Text 9"/>
          <p:cNvSpPr/>
          <p:nvPr/>
        </p:nvSpPr>
        <p:spPr>
          <a:xfrm>
            <a:off x="4846320" y="16459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城市治理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16459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技术密度最高，城市大脑、数字孪生等综合平台集中体现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0" y="2286000"/>
            <a:ext cx="54864" cy="411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5" name="Text 12"/>
          <p:cNvSpPr/>
          <p:nvPr/>
        </p:nvSpPr>
        <p:spPr>
          <a:xfrm>
            <a:off x="4846320" y="22860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经济发展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2286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通过数据要素撬动产业升级，数字经济与数字政府双向赋能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572000" y="2926080"/>
            <a:ext cx="54864" cy="411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5"/>
          <p:cNvSpPr/>
          <p:nvPr/>
        </p:nvSpPr>
        <p:spPr>
          <a:xfrm>
            <a:off x="4846320" y="29260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民生保障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2926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从教育到医疗，数字化缩小了服务获取的城乡差距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0" y="3566160"/>
            <a:ext cx="54864" cy="411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846320" y="35661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生态环保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0" y="3566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大数据监测正在重塑环境治理模式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0" y="4206240"/>
            <a:ext cx="54864" cy="411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1"/>
          <p:cNvSpPr/>
          <p:nvPr/>
        </p:nvSpPr>
        <p:spPr>
          <a:xfrm>
            <a:off x="4846320" y="4206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公共安全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0" y="42062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AI赋能应急管理、智慧安防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国际比较：全球政府数字化转型标杆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900" dirty="0"/>
          </a:p>
        </p:txBody>
      </p:sp>
      <p:pic>
        <p:nvPicPr>
          <p:cNvPr id="7" name="Image 0" descr="images/chart_international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914400"/>
            <a:ext cx="87782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国际镜鉴｜爱沙尼亚：全球数字政府的"实验室"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2743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核心数据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16002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公共服务在线可获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2148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37360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GDP节约行政成本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26974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46.7%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697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电子投票比例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2461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10万+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737360" y="32461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数字居民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7947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5天/年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794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每位公民节省时间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1097280"/>
            <a:ext cx="2743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1188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核心举措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74720" y="155448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X-Road 数据交换平台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</a:rPr>
              <a:t>打通所有公共部门数据，"仅一次"原则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e-ID 电子身份证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</a:rPr>
              <a:t>覆盖99%公民，99%服务可在线办理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e-Residency 数字公民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</a:rPr>
              <a:t>全球首创，可远程注册公司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6517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097280"/>
            <a:ext cx="2651760" cy="45720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1143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对中国的启示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16459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5C"/>
                </a:solidFill>
              </a:rPr>
              <a:t>顶层立法先行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</a:rPr>
              <a:t>国家层面立法保障数字身份和法律效力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B3A5C"/>
                </a:solidFill>
              </a:rPr>
              <a:t>数据互通是关键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</a:rPr>
              <a:t>X-Road模式启发：不建大中心，建互操作标准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B3A5C"/>
                </a:solidFill>
              </a:rPr>
              <a:t>小国大格局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</a:rPr>
              <a:t>人口少但敢为天下先，勇气值得学习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国际镜鉴｜新加坡与英国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4114800" cy="4572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新加坡 · Smart Nation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9A2A"/>
                </a:solidFill>
              </a:rPr>
              <a:t>联合国EGDI排名全球第1（2022）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3749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SingPass 数字身份：覆盖98%居民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LifeSG 一站式平台：整合40+机构200+服务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企业注册：15天 → 1小时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累计节省行政成本 4.1亿新元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444466"/>
                </a:solidFill>
              </a:rPr>
              <a:t>核心理念："Moments of Life"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444466"/>
                </a:solidFill>
              </a:rPr>
              <a:t>以市民生命周期事件为中心整合服务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· GDS改革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9A2A"/>
                </a:solidFill>
              </a:rPr>
              <a:t>Digital by Default（数字即默认）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011680"/>
            <a:ext cx="3749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</a:rPr>
              <a:t>GOV.UK：整合25个部委400+机构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运营成本从7,000万→1,400万英镑/年（↓80%）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</a:rPr>
              <a:t>累计节省行政成本 56亿英镑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</a:rPr>
              <a:t>月独立访客超1亿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444466"/>
                </a:solidFill>
              </a:rPr>
              <a:t>核心理念：设立GDS（政府数字服务局）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444466"/>
                </a:solidFill>
              </a:rPr>
              <a:t>集中统一推进，而非各部门各自为战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趋势洞察：政务数据规模与在线服务同步爆发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900" dirty="0"/>
          </a:p>
        </p:txBody>
      </p:sp>
      <p:pic>
        <p:nvPicPr>
          <p:cNvPr id="7" name="Image 0" descr="images/chart_data_growth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治理闭环：数据驱动的"感知—分析—决策—执行"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900" dirty="0"/>
          </a:p>
        </p:txBody>
      </p:sp>
      <p:pic>
        <p:nvPicPr>
          <p:cNvPr id="7" name="Image 0" descr="images/chart_governance_cyc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14400"/>
            <a:ext cx="4572000" cy="3840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0" y="1097280"/>
            <a:ext cx="38404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212080" y="1143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感知（Sense）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2120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物联感知设备、智能传感器、移动终端实时采集城市运行数据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029200" y="2011680"/>
            <a:ext cx="38404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212080" y="20574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分析（Analyze）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21208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大数据引擎+AI模型对海量数据进行清洗、建模、分析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029200" y="2926080"/>
            <a:ext cx="38404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212080" y="29718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决策（Decide）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212080" y="32461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数据驱动的辅助决策系统，提供预警和建议方案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029200" y="3840480"/>
            <a:ext cx="38404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212080" y="3886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执行（Act）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212080" y="4160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跨部门协同平台快速派单处置，结果反馈形成闭环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落地建议（一）：区级政府数字化转型路径设计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19659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196596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摸底诊断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1737360"/>
            <a:ext cx="1691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盘点现有信息系统、数据资源、业务流程，找准痛点堵点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1097280"/>
            <a:ext cx="19659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0" y="1097280"/>
            <a:ext cx="1965960" cy="502920"/>
          </a:xfrm>
          <a:prstGeom prst="rect">
            <a:avLst/>
          </a:prstGeom>
          <a:solidFill>
            <a:srgbClr val="2C5F8A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11155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第二步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51760" y="13258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顶层规划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1737360"/>
            <a:ext cx="1691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以"市民/企业需求"为中心设计整体方案，而非部门职能切割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19659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097280"/>
            <a:ext cx="1965960" cy="502920"/>
          </a:xfrm>
          <a:prstGeom prst="rect">
            <a:avLst/>
          </a:prstGeom>
          <a:solidFill>
            <a:srgbClr val="4A8BC2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1155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第三步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13258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数据治理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1737360"/>
            <a:ext cx="1691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建立区级数据资源目录和数据共享交换标准，打破"数据孤岛"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49440" y="1097280"/>
            <a:ext cx="19659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49440" y="1097280"/>
            <a:ext cx="1965960" cy="502920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0" y="11155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第四步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258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场景先行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1737360"/>
            <a:ext cx="1691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选择高频刚需场景（如企业开办、民生补贴）先试先行，快速见效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4023360"/>
            <a:ext cx="84124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" y="4023360"/>
            <a:ext cx="54864" cy="822960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0690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关键原则：少即是多。与其追求"大而全"的数字政府平台，不如选准1-2个高频场景做深做透，让群众和企业有实实在在的获得感。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——这是所有成功案例的共同经验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落地建议（二）：五大关键行动领域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1600200" cy="9144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280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" y="16916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数字身份体系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194560"/>
            <a:ext cx="1417320" cy="9144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331720"/>
            <a:ext cx="1417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建立区级统一身份认证平台，与市/省级平台对接，实现"一次认证、全网通办"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29968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29968" y="1097280"/>
            <a:ext cx="1600200" cy="9144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1280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121408" y="16916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数据共享交换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121408" y="2194560"/>
            <a:ext cx="1417320" cy="9144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18" name="Text 16"/>
          <p:cNvSpPr/>
          <p:nvPr/>
        </p:nvSpPr>
        <p:spPr>
          <a:xfrm>
            <a:off x="2121408" y="2331720"/>
            <a:ext cx="1417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制定区级数据资源共享目录，建立"数据不出域"但"可用不可见"的安全共享机制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85616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785616" y="1097280"/>
            <a:ext cx="1600200" cy="9144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21" name="Text 19"/>
          <p:cNvSpPr/>
          <p:nvPr/>
        </p:nvSpPr>
        <p:spPr>
          <a:xfrm>
            <a:off x="3877056" y="1280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877056" y="16916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智能决策辅助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77056" y="2194560"/>
            <a:ext cx="1417320" cy="9144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24" name="Text 22"/>
          <p:cNvSpPr/>
          <p:nvPr/>
        </p:nvSpPr>
        <p:spPr>
          <a:xfrm>
            <a:off x="3877056" y="2331720"/>
            <a:ext cx="1417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在应急管理、经济运行、城市管理等领域引入AI辅助决策，提升治理精细化水平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541264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41264" y="1097280"/>
            <a:ext cx="1600200" cy="9144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27" name="Text 25"/>
          <p:cNvSpPr/>
          <p:nvPr/>
        </p:nvSpPr>
        <p:spPr>
          <a:xfrm>
            <a:off x="5632704" y="1280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632704" y="16916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一网统管平台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32704" y="2194560"/>
            <a:ext cx="1417320" cy="9144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30" name="Text 28"/>
          <p:cNvSpPr/>
          <p:nvPr/>
        </p:nvSpPr>
        <p:spPr>
          <a:xfrm>
            <a:off x="5632704" y="2331720"/>
            <a:ext cx="1417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整合12345热线、网格化管理、综合执法等，构建"横向到边、纵向到底"的指挥体系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96912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296912" y="1097280"/>
            <a:ext cx="1600200" cy="9144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33" name="Text 31"/>
          <p:cNvSpPr/>
          <p:nvPr/>
        </p:nvSpPr>
        <p:spPr>
          <a:xfrm>
            <a:off x="7388352" y="1280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388352" y="16916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数字人才培育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88352" y="2194560"/>
            <a:ext cx="1417320" cy="9144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36" name="Text 34"/>
          <p:cNvSpPr/>
          <p:nvPr/>
        </p:nvSpPr>
        <p:spPr>
          <a:xfrm>
            <a:off x="7388352" y="2331720"/>
            <a:ext cx="14173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分级分类开展数字素养培训，区政府部门至少配备1-2名首席数据官（CDO）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落地建议（三）：需要正视的挑战与风险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97280"/>
            <a:ext cx="54864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数据孤岛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143560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各部门系统标准不统一、数据不互通是最大障碍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589520" y="11155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风险等级：高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84708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847088"/>
            <a:ext cx="54864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186537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隐私安全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218541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数据采集和使用需要在便利性与隐私保护之间找平衡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89520" y="186537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风险等级：高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96896"/>
            <a:ext cx="54864" cy="640080"/>
          </a:xfrm>
          <a:prstGeom prst="rect">
            <a:avLst/>
          </a:prstGeom>
          <a:solidFill>
            <a:srgbClr val="2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61518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数字鸿沟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293522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老年人、残障人士等特殊群体的服务不能"被数字化抛弃"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89520" y="261518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风险等级：中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4670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346704"/>
            <a:ext cx="54864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3649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组织惰性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6850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技术易买、制度难改，数字化转型本质是组织变革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0" y="33649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风险等级：高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096512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4096512"/>
            <a:ext cx="54864" cy="640080"/>
          </a:xfrm>
          <a:prstGeom prst="rect">
            <a:avLst/>
          </a:prstGeom>
          <a:solidFill>
            <a:srgbClr val="2C5F8A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投入产出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44348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大平台投入大见效慢，需要管理好预期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89520" y="4114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风险等级：中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落地建议（四）：投资优先级矩阵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97280"/>
            <a:ext cx="4114800" cy="4114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143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优先级最高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60020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高频民生服务（社保、医保、不动产登记）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企业开办、项目审批线上化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12345+网格化一网统管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97280"/>
            <a:ext cx="4114800" cy="411480"/>
          </a:xfrm>
          <a:prstGeom prst="rect">
            <a:avLst/>
          </a:prstGeom>
          <a:solidFill>
            <a:srgbClr val="2C5F8A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143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📋 中期规划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60020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城市运行动态监测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数据共享交换平台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电子证照全域应用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92608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926080"/>
            <a:ext cx="4114800" cy="411480"/>
          </a:xfrm>
          <a:prstGeom prst="rect">
            <a:avLst/>
          </a:prstGeom>
          <a:solidFill>
            <a:srgbClr val="4A8BC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🔬 试点探索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342900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AI辅助决策（经济运行分析、应急推演）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数字孪生（重点区域试点）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区块链（电子证照、合同存证）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926080"/>
            <a:ext cx="4114800" cy="411480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971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🔄 能力筑基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342900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公务员数字素养培训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设立首席数据官（CDO）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数据安全管理制度建设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核心判断：三个不可逆转的趋势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32588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11887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数字政府不是选项，是必答题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63040" y="1554480"/>
            <a:ext cx="6583680" cy="9144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16002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从中央到地方，从政策到预算，数字化转型已成为政府治理现代化的核心赛道。不拥抱数字化的政府，将在治理效能上被加速拉开差距。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256032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Ⅱ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242316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技术是手段，制度和人是根本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2788920"/>
            <a:ext cx="6583680" cy="9144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18" name="Text 16"/>
          <p:cNvSpPr/>
          <p:nvPr/>
        </p:nvSpPr>
        <p:spPr>
          <a:xfrm>
            <a:off x="1463040" y="283464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数字政府建设的难点从来不在代码层面，而在组织变革和制度配套。没有组织创新，再先进的技术平台也难以发挥实效。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794760"/>
            <a:ext cx="548640" cy="5486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794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Ⅲ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36576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区级政府是最后一公里的关键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463040" y="4023360"/>
            <a:ext cx="6583680" cy="9144"/>
          </a:xfrm>
          <a:prstGeom prst="rect">
            <a:avLst/>
          </a:prstGeom>
          <a:solidFill>
            <a:srgbClr val="D6E8F7"/>
          </a:solidFill>
          <a:ln/>
        </p:spPr>
      </p:sp>
      <p:sp>
        <p:nvSpPr>
          <p:cNvPr id="24" name="Text 22"/>
          <p:cNvSpPr/>
          <p:nvPr/>
        </p:nvSpPr>
        <p:spPr>
          <a:xfrm>
            <a:off x="1463040" y="406908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再好的顶层设计，最终要落到区县和街道层面。区级政府是数字化转型的主战场，也是最先感知群众需求的神经末梢。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展望：走向智慧治理的五个关键转变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63040" y="11430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部门驱动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114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0" y="1143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用户驱动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84708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18928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63040" y="1892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数据孤岛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00400" y="18928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0" y="18928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到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18928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数据融合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59689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26426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63040" y="26426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被动响应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0" y="26426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657600" y="26426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0" y="264261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主动治理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34670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33924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630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经验决策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00400" y="33924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657600" y="33924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到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0" y="339242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数据决策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096512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" y="41422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463040" y="41422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技术至上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200400" y="41422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657600" y="41422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到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0" y="41422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制度为本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9144000" cy="7315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8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谢  谢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0" y="3017520"/>
            <a:ext cx="9144000" cy="7315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D9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欢迎批评指正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 | 联系方式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109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主要参考文献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822960"/>
            <a:ext cx="9144000" cy="27432"/>
          </a:xfrm>
          <a:prstGeom prst="rect">
            <a:avLst/>
          </a:prstGeom>
          <a:solidFill>
            <a:srgbClr val="C99A2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4800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[1] 国务院. (2022). 关于加强数字政府建设的指导意见. 国发〔2022〕14号.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[2] 中共中央 国务院. (2023). 数字中国建设整体布局规划.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[3] Dunleavy, P., et al. (2006). Digital Era Governance: IT Corporations, the State, and E-Government. Oxford University Press.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[4] Pollitt, C. (2003). Joined-up Government: A Survey. Political Studies Review, 1(1), 34-49.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[5] United Nations. (2022). E-Government Survey 2022: The Future of Digital Government.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[6] 杭州市数据资源管理局. (2023). 杭州城市大脑建设年度报告.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[7] 广东省政务服务数据管理局. (2025). 数字政府改革建设情况报告.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[8] 浙江省大数据发展管理局. (2024). 浙江省政府数字化转型白皮书.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[9] OECD. (2023). Digital Government Review of Estonia.</a:t>
            </a:r>
            <a:endParaRPr lang="en-US" sz="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444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[10] Giest, S. &amp; Raaphorst, N. (2020). Data-Driven Government: Challenges and Opportunities. Public Administration Review.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数智赋能政府治理</dc:title>
  <dc:subject>PptxGenJS Presentation</dc:subject>
  <dc:creator>教授</dc:creator>
  <cp:lastModifiedBy>教授</cp:lastModifiedBy>
  <cp:revision>1</cp:revision>
  <dcterms:created xsi:type="dcterms:W3CDTF">2026-05-14T23:46:00Z</dcterms:created>
  <dcterms:modified xsi:type="dcterms:W3CDTF">2026-05-14T23:46:00Z</dcterms:modified>
</cp:coreProperties>
</file>