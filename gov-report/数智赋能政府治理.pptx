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0" cy="7315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数智赋能政府治理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——数字化转型视域下的地方政府治理现代化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7315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报告人：教授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学术讲座 · 内部资料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报告逻辑框架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371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4630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时代召唤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640080" cy="18288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数智赋能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1188720"/>
            <a:ext cx="1371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4630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理论根基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77440" y="2743200"/>
            <a:ext cx="640080" cy="18288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29260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理论基础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1188720"/>
            <a:ext cx="1371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77640" y="14630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实践探索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31920" y="2743200"/>
            <a:ext cx="640080" cy="18288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29260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国内做了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1188720"/>
            <a:ext cx="1371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14630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国际镜鉴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2743200"/>
            <a:ext cx="640080" cy="18288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9260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国外有何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1188720"/>
            <a:ext cx="1371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86600" y="146304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路径建议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040880" y="2743200"/>
            <a:ext cx="640080" cy="18288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29260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我们能做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时代背景：数据成为第五大生产要素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"数据已成为第五大生产要素"（2020年4月，中共中央、国务院）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2024年政府工作报告明确提出："深入推进数字经济创新发展"，"加快数字政府建设"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2025年进一步强调："以数字中国建设赋能中国式现代化"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097280"/>
            <a:ext cx="34747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371600"/>
            <a:ext cx="54864" cy="5486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95ZB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中国政务数据总量(2024)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占全球数据量的23%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0" y="2194560"/>
            <a:ext cx="54864" cy="5486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在线服务覆盖率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省级事项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0" y="3017520"/>
            <a:ext cx="54864" cy="5486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逾5000亿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数字政府市场规模(2025E)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年均增速超15%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3840480"/>
            <a:ext cx="54864" cy="5486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国家层面政策文件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2020年以来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政策脉络：从电子政务到数字中国的演进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D6E8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国家信息化领导小组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《电子政务建设指导意见》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331720"/>
            <a:ext cx="457200" cy="457200"/>
          </a:xfrm>
          <a:prstGeom prst="ellipse">
            <a:avLst/>
          </a:prstGeom>
          <a:solidFill>
            <a:srgbClr val="D6E8F7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国务院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《促进大数据发展行动纲要》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D6E8F7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数据成为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第五大生产要素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83480" y="2331720"/>
            <a:ext cx="457200" cy="457200"/>
          </a:xfrm>
          <a:prstGeom prst="ellipse">
            <a:avLst/>
          </a:prstGeom>
          <a:solidFill>
            <a:srgbClr val="D6E8F7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8A"/>
                </a:solidFill>
              </a:rPr>
              <a:t>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国务院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《数字政府建设指导意见》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33172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中共中央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《数字中国整体布局规划》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18120" y="233172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2024-25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政府工作报告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数字政府建设加速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理论基础：政府数字化的理论演进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数字治理理论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(Digital Governance)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Dunleavy, 2006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2331720" cy="9144"/>
          </a:xfrm>
          <a:prstGeom prst="rect">
            <a:avLst/>
          </a:prstGeom>
          <a:solidFill>
            <a:srgbClr val="F0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从"新公共管理"转向"数字时代治理"，强调服务整合与数字化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97280"/>
            <a:ext cx="26974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188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整体性政府理论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(Whole-of-Government)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Pollit, 2003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148840"/>
            <a:ext cx="2331720" cy="9144"/>
          </a:xfrm>
          <a:prstGeom prst="rect">
            <a:avLst/>
          </a:prstGeom>
          <a:solidFill>
            <a:srgbClr val="F0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5603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打破部门壁垒，实现跨层级、跨部门协同治理，以用户为中心整合服务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97280"/>
            <a:ext cx="269748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88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数据驱动治理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(Data-Driven Governance)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Giest &amp; Raaphorst, 2020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148840"/>
            <a:ext cx="2331720" cy="9144"/>
          </a:xfrm>
          <a:prstGeom prst="rect">
            <a:avLst/>
          </a:prstGeom>
          <a:solidFill>
            <a:srgbClr val="F0D98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5603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运用大数据与AI技术辅助决策，实现从"经验驱动"向"数据驱动"转型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分析框架：政府数字化的"四阶段演进"模型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images/chart_evolution_pa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国内实践：从"盆景"走向"风景"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images/chart_domestic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案例一：杭州城市大脑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杭州城市大脑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2016年由杭州市政府与阿里巴巴联合启动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覆盖交通、文旅、卫健、城管等11个领域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治理理念：从"经验治理"到"数据治理"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6576" cy="1463040"/>
          </a:xfrm>
          <a:prstGeom prst="rect">
            <a:avLst/>
          </a:prstGeom>
          <a:solidFill>
            <a:srgbClr val="C99A2A"/>
          </a:solidFill>
          <a:ln/>
        </p:spPr>
      </p:sp>
      <p:pic>
        <p:nvPicPr>
          <p:cNvPr id="9" name="Image 0" descr="images/chart_hangzhou_city_br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14400"/>
            <a:ext cx="4297680" cy="2560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794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023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城市大脑的核心价值不在于技术先进，而在于建立了"感知—分析—决策—执行"的治理闭环，让数据在城市治理中真正流动起来。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案例二：上海"一网通办"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06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上海 "一网通办"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371600" cy="18288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2018年启动，以"一网通办"重塑政务服务流程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接入服务事项超过3,400项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个人用户注册量超过2,400万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日均办件量达10万件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44466"/>
                </a:solidFill>
              </a:rPr>
              <a:t>核心理念："进一扇门、跑一个窗、办所有事"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关键成效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783080"/>
            <a:ext cx="54864" cy="3200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7647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1764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办事时间减少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286000"/>
            <a:ext cx="54864" cy="3200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67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267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材料缩减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788920"/>
            <a:ext cx="54864" cy="3200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7706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0" y="2770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网上可办率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291840"/>
            <a:ext cx="54864" cy="3200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2735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3273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✧ 延伸案例：广东"数字政府"改革（粤省事、粤商通）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粤省事实名用户超1.8亿 | 企业开办从15天缩短至0.5天 | 政府运营效率提升60%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案例三：浙江"最多跑一次"与深圳"i深圳"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浙江·最多跑一次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实现率 98.1%  |  满意率 99.5%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行政许可时限压缩比 87.4%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开创性提出"最多跑一次"改革理念，后被写入国务院文件向全国推广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深圳·i深圳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上线服务超 8,200 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100% 事项网上可办  |  95% "零跑动"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实名用户超1,800万，整合全市政务服务与公共服务</a:t>
            </a:r>
            <a:endParaRPr lang="en-US" sz="1200" dirty="0"/>
          </a:p>
        </p:txBody>
      </p:sp>
      <p:pic>
        <p:nvPicPr>
          <p:cNvPr id="15" name="Image 0" descr="images/chart_business_reg_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108960"/>
            <a:ext cx="82296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案例四：北京"接诉即办"与成都"智慧蓉城"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54864" cy="2377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北京 "接诉即办"数字化升级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12345热线全面数字化改造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诉求响应率：100%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问题解决率：95.6%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大数据分析主动治理，推动700余项高频问题协同解决</a:t>
            </a:r>
            <a:endParaRPr lang="en-US" sz="10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99A2A"/>
                </a:solidFill>
              </a:rPr>
              <a:t>从"民呼我应"到"未诉先办"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23774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成都 "智慧蓉城"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"三级平台、五级应用"体系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监测覆盖 20大类 1,200项指标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事件处置时长：48h → 4.5h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跨层级协同处置，打通"市—区—街道—社区—网格"</a:t>
            </a:r>
            <a:endParaRPr lang="en-US" sz="10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99A2A"/>
                </a:solidFill>
              </a:rPr>
              <a:t>真正做到了"一屏观全城，一网管全城"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8412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两个案例的共同启示：数字化不是技术问题，而是治理逻辑的再造——从"被动响应"转向"主动治理"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实践图谱：数智赋能的核心领域覆盖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pic>
        <p:nvPicPr>
          <p:cNvPr id="7" name="Image 0" descr="images/chart_domai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11480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005840"/>
            <a:ext cx="54864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政务服务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核心突破领域，用户规模最大，早期数字化主要集中在审批流程优化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0" y="1645920"/>
            <a:ext cx="54864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645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城市治理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技术密度最高，城市大脑、数字孪生等综合平台集中体现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2286000"/>
            <a:ext cx="54864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经济发展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通过数据要素撬动产业升级，数字经济与数字政府双向赋能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2926080"/>
            <a:ext cx="54864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民生保障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从教育到医疗，数字化缩小了服务获取的城乡差距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0" y="3566160"/>
            <a:ext cx="54864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生态环保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0" y="3566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大数据监测正在重塑环境治理模式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0" y="4206240"/>
            <a:ext cx="54864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公共安全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0" y="4206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AI赋能应急管理、智慧安防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国际比较：全球政府数字化转型标杆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images/chart_internationa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8778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国际镜鉴｜爱沙尼亚：全球数字政府的"实验室"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核心数据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公共服务在线可获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GDP节约行政成本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46.7%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电子投票比例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10万+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数字居民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5天/年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每位公民节省时间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09728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核心举措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155448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X-Road 数据交换平台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</a:rPr>
              <a:t>打通所有公共部门数据，"仅一次"原则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e-ID 电子身份证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</a:rPr>
              <a:t>覆盖99%公民，99%服务可在线办理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e-Residency 数字公民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</a:rPr>
              <a:t>全球首创，可远程注册公司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对中国的启示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6459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顶层立法先行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</a:rPr>
              <a:t>国家层面立法保障数字身份和法律效力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数据互通是关键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</a:rPr>
              <a:t>X-Road模式启发：不建大中心，建互操作标准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小国大格局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</a:rPr>
              <a:t>人口少但敢为天下先，勇气值得学习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国际镜鉴｜新加坡与英国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新加坡 · Smart Nation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9A2A"/>
                </a:solidFill>
              </a:rPr>
              <a:t>联合国EGDI排名全球第1（2022）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SingPass 数字身份：覆盖98%居民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LifeSG 一站式平台：整合40+机构200+服务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企业注册：15天 → 1小时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累计节省行政成本 4.1亿新元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66"/>
                </a:solidFill>
              </a:rPr>
              <a:t>核心理念："Moments of Life"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66"/>
                </a:solidFill>
              </a:rPr>
              <a:t>以市民生命周期事件为中心整合服务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英国 · GDS改革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9A2A"/>
                </a:solidFill>
              </a:rPr>
              <a:t>Digital by Default（数字即默认）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GOV.UK：整合25个部委400+机构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运营成本从7,000万→1,400万英镑/年（↓80%）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累计节省行政成本 56亿英镑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</a:rPr>
              <a:t>月独立访客超1亿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66"/>
                </a:solidFill>
              </a:rPr>
              <a:t>核心理念：设立GDS（政府数字服务局）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444466"/>
                </a:solidFill>
              </a:rPr>
              <a:t>集中统一推进，而非各部门各自为战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趋势洞察：政务数据规模与在线服务同步爆发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  <p:pic>
        <p:nvPicPr>
          <p:cNvPr id="7" name="Image 0" descr="images/chart_data_growth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治理闭环：数据驱动的"感知—分析—决策—执行"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  <p:pic>
        <p:nvPicPr>
          <p:cNvPr id="7" name="Image 0" descr="images/chart_governance_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4572000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0972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感知（Sense）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物联感知设备、智能传感器、移动终端实时采集城市运行数据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0" y="20116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1208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分析（Analyze）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大数据引擎+AI模型对海量数据进行清洗、建模、分析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0" y="29260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120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决策（Decide）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1208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数据驱动的辅助决策系统，提供预警和建议方案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0" y="38404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1208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执行（Act）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12080" y="4160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跨部门协同平台快速派单处置，结果反馈形成闭环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落地建议（一）：区级政府数字化转型路径设计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196596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摸底诊断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盘点现有信息系统、数据资源、业务流程，找准痛点堵点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09728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097280"/>
            <a:ext cx="1965960" cy="5029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1155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第二步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13258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顶层规划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173736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以"市民/企业需求"为中心设计整体方案，而非部门职能切割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97280"/>
            <a:ext cx="1965960" cy="502920"/>
          </a:xfrm>
          <a:prstGeom prst="rect">
            <a:avLst/>
          </a:prstGeom>
          <a:solidFill>
            <a:srgbClr val="4A8BC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155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第三步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3258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建立区级数据资源目录和数据共享交换标准，打破"数据孤岛"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097280"/>
            <a:ext cx="1965960" cy="50292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11556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第四步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13258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场景先行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173736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选择高频刚需场景（如企业开办、民生补贴）先试先行，快速见效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69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关键原则：少即是多。与其追求"大而全"的数字政府平台，不如选准1-2个高频场景做深做透，让群众和企业有实实在在的获得感。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——这是所有成功案例的共同经验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落地建议（二）：五大关键行动领域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1600200" cy="9144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数字身份体系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41732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33172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建立区级统一身份认证平台，与市/省级平台对接，实现"一次认证、全网通办"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29968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1097280"/>
            <a:ext cx="1600200" cy="9144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5" name="Text 13"/>
          <p:cNvSpPr/>
          <p:nvPr/>
        </p:nvSpPr>
        <p:spPr>
          <a:xfrm>
            <a:off x="2121408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21408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数据共享交换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2194560"/>
            <a:ext cx="141732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18" name="Text 16"/>
          <p:cNvSpPr/>
          <p:nvPr/>
        </p:nvSpPr>
        <p:spPr>
          <a:xfrm>
            <a:off x="2121408" y="233172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制定区级数据资源共享目录，建立"数据不出域"但"可用不可见"的安全共享机制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85616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85616" y="1097280"/>
            <a:ext cx="1600200" cy="9144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1" name="Text 19"/>
          <p:cNvSpPr/>
          <p:nvPr/>
        </p:nvSpPr>
        <p:spPr>
          <a:xfrm>
            <a:off x="3877056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77056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智能决策辅助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77056" y="2194560"/>
            <a:ext cx="141732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4" name="Text 22"/>
          <p:cNvSpPr/>
          <p:nvPr/>
        </p:nvSpPr>
        <p:spPr>
          <a:xfrm>
            <a:off x="3877056" y="233172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在应急管理、经济运行、城市管理等领域引入AI辅助决策，提升治理精细化水平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41264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41264" y="1097280"/>
            <a:ext cx="1600200" cy="9144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7" name="Text 25"/>
          <p:cNvSpPr/>
          <p:nvPr/>
        </p:nvSpPr>
        <p:spPr>
          <a:xfrm>
            <a:off x="5632704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32704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一网统管平台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32704" y="2194560"/>
            <a:ext cx="141732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30" name="Text 28"/>
          <p:cNvSpPr/>
          <p:nvPr/>
        </p:nvSpPr>
        <p:spPr>
          <a:xfrm>
            <a:off x="5632704" y="233172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整合12345热线、网格化管理、综合执法等，构建"横向到边、纵向到底"的指挥体系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96912" y="109728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96912" y="1097280"/>
            <a:ext cx="1600200" cy="9144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88352" y="1691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数字人才培育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88352" y="2194560"/>
            <a:ext cx="141732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36" name="Text 34"/>
          <p:cNvSpPr/>
          <p:nvPr/>
        </p:nvSpPr>
        <p:spPr>
          <a:xfrm>
            <a:off x="7388352" y="233172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分级分类开展数字素养培训，区政府部门至少配备1-2名首席数据官（CDO）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落地建议（三）：需要正视的挑战与风险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15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4356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各部门系统标准不统一、数据不互通是最大障碍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1115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47088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865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隐私安全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1854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数据采集和使用需要在便利性与隐私保护之间找平衡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18653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96896"/>
            <a:ext cx="54864" cy="6400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151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数字鸿沟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29352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老年人、残障人士等特殊群体的服务不能"被数字化抛弃"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261518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46704"/>
            <a:ext cx="54864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364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组织惰性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6850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技术易买、制度难改，数字化转型本质是组织变革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33649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09651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96512"/>
            <a:ext cx="54864" cy="6400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投入产出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大平台投入大见效慢，需要管理好预期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风险等级：中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落地建议（四）：投资优先级矩阵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优先级最高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高频民生服务（社保、医保、不动产登记）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企业开办、项目审批线上化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12345+网格化一网统管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中期规划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城市运行动态监测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数据共享交换平台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电子证照全域应用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4114800" cy="411480"/>
          </a:xfrm>
          <a:prstGeom prst="rect">
            <a:avLst/>
          </a:prstGeom>
          <a:solidFill>
            <a:srgbClr val="4A8BC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试点探索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AI辅助决策（经济运行分析、应急推演）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数字孪生（重点区域试点）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区块链（电子证照、合同存证）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能力筑基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公务员数字素养培训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设立首席数据官（CDO）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数据安全管理制度建设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核心判断：三个不可逆转的趋势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188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数字政府不是选项，是必答题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1554480"/>
            <a:ext cx="658368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16002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从中央到地方，从政策到预算，数字化转型已成为政府治理现代化的核心赛道。不拥抱数字化的政府，将在治理效能上被加速拉开差距。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技术是手段，制度和人是根本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63040" y="2788920"/>
            <a:ext cx="658368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2834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数字政府建设的难点从来不在代码层面，而在组织变革和制度配套。没有组织创新，再先进的技术平台也难以发挥实效。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Ⅲ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3657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区级政府是最后一公里的关键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463040" y="4023360"/>
            <a:ext cx="658368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069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再好的顶层设计，最终要落到区县和街道层面。区级政府是数字化转型的主战场，也是最先感知群众需求的神经末梢。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展望：走向智慧治理的五个关键转变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部门驱动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143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1143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用户驱动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1892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18928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1892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892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6426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2642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26426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0" y="26426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26426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主动治理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4670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3924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经验决策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3924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57600" y="33924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33924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数据决策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09651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4142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4142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技术至上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41422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57600" y="4142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4142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制度为本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7315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  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9144000" cy="7315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9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欢迎批评指正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 | 联系方式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主要参考文献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 国务院. (2022). 关于加强数字政府建设的指导意见. 国发〔2022〕14号.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 中共中央 国务院. (2023). 数字中国建设整体布局规划.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 Dunleavy, P., et al. (2006). Digital Era Governance: IT Corporations, the State, and E-Government. Oxford University Press.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 Pollitt, C. (2003). Joined-up Government: A Survey. Political Studies Review, 1(1), 34-49.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 United Nations. (2022). E-Government Survey 2022: The Future of Digital Government.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[6] 杭州市数据资源管理局. (2023). 杭州城市大脑建设年度报告.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[7] 广东省政务服务数据管理局. (2025). 数字政府改革建设情况报告.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[8] 浙江省大数据发展管理局. (2024). 浙江省政府数字化转型白皮书.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[9] OECD. (2023). Digital Government Review of Estonia.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444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[10] Giest, S. &amp; Raaphorst, N. (2020). Data-Driven Government: Challenges and Opportunities. Public Administration Review.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人工智能赋能：从“数字化”走向“智能化”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重大转变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如果说数字化转型的核心是“数据通”，那么智能化转型的核心就是“机器懂”。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三个关键变化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4864" cy="41148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从“人找服务”到“服务找人”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AI主动发现需求，政策精准推送，无需市民自行搜索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4864" cy="41148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从“人工巡查”到“AI巡检”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520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计算机视觉自动识别城市管理问题，效率提升数倍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" cy="41148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从“经验决策”到“算法辅助”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1605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大模型分析海量数据辅助决策，降低人为偏差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典型应用场景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7373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政务大模型问答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深圳“深政助手”接入DeepSeek，公务员政策咨询响应时效从小时级降至秒级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4505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智能公文辅助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679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浙江“政务大脑”自动生成初稿，公文起草效率提升70%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1638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AI网格巡查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3924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北京AI识别违建/垃圾堆积，准确率92%，巡查效率提升5倍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877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热线智能分析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1056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上海12345接入AI，热点问题自动聚类预警，提前发现群体性诉求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政务大模型：从通用AI到政务专属智能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中国政务大模型发展进程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GPT引发政务AI热潮，各地方政府开始研究大模型在政务场景的应用可能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365760" cy="36576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2404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首批政务大模型上线：深圳“深政助手”、北京“京策”、浙江“浙政智脑”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365760" cy="3657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3118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政务大模型全面铺开，三分之二以上省份已启动政务AI试点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877056"/>
            <a:ext cx="365760" cy="36576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8720" y="38313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多省市将AI纳入日常政务流程，从“试点”走向“常态”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97280"/>
            <a:ext cx="4206240" cy="45720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政务大模型核心能力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691640"/>
            <a:ext cx="54864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6733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673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将复杂政策文件转化为通俗语言，辅助基层工作人员和公众理解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2167128"/>
            <a:ext cx="54864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7x24小时政务咨询，覆盖社保、税务、工商等高频事项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46320" y="2642616"/>
            <a:ext cx="54864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26243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公文写作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6243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辅助起草通知、报告、会议纪要等政务公文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118104"/>
            <a:ext cx="54864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099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099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自动分析政务数据报告，提炼关键洞察和趋势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3593592"/>
            <a:ext cx="54864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35753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舆情监测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575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实时监测网络舆情，自动生成分析报告和应对建议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4069080"/>
            <a:ext cx="54864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40507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决策辅助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4050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基于历史数据和模型推演，为政策制定提供量化参考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区级政府的AI落地：三条可行路径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6974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155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1155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借力·接入城市级AI平台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51460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2880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利用省/市级已建成的政务大模型能力API，直接在区和街道层面调用智能问答、公文辅助、热线分析等能力。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成本最低、见效最快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697480" cy="50292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1155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11155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试点·垂直场景自建模型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691640"/>
            <a:ext cx="251460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82880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在某一高频场景（如城市管理图像识别、12345智能分类）用本地数据微调模型。需配备基础算力和数据标注能力。可积累数据资产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97280"/>
            <a:ext cx="2697480" cy="502920"/>
          </a:xfrm>
          <a:prstGeom prst="rect">
            <a:avLst/>
          </a:prstGeom>
          <a:solidFill>
            <a:srgbClr val="4A8BC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1155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11155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整合·AI+一网统管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2514600" cy="9144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82880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将AI能力嵌入现有的一网统管平台中，让AI成为城市治理的智能副驾驶。不建新平台，盘活存量资产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C99A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关键提醒：AI是“副驾驶”不是“驾驶员”——最终决策权和行政责任必须由公务员承担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数智赋能政府治理</dc:title>
  <dc:subject>PptxGenJS Presentation</dc:subject>
  <dc:creator>教授</dc:creator>
  <cp:lastModifiedBy>教授</cp:lastModifiedBy>
  <cp:revision>1</cp:revision>
  <dcterms:created xsi:type="dcterms:W3CDTF">2026-05-14T23:46:00Z</dcterms:created>
  <dcterms:modified xsi:type="dcterms:W3CDTF">2026-05-14T23:46:00Z</dcterms:modified>
</cp:coreProperties>
</file>